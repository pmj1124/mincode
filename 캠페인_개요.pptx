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7E188-E360-4712-AB43-D3295A553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8D52B4-7D10-4774-BD66-5A4048E8C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A561BA-A6D2-4083-A680-7D254EDD2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0795-CF19-481E-8EEC-D938A10189B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F32BD2-3599-4018-B561-F54B7340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71E90-E727-458E-A931-5A40E2567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DFA6-A977-4D10-8B73-83A583A66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90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7A058-F550-417E-9203-CD66085BD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C65585-6577-4F24-BACB-BA3463008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94B20F-4F38-4228-A55F-DA40D2B8F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0795-CF19-481E-8EEC-D938A10189B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8E4708-7924-44FA-A3C8-9DB919A0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E9D86E-1C21-416E-A4E4-C3FE126B5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DFA6-A977-4D10-8B73-83A583A66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28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C5059-65C3-4950-BDFA-160991AAA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F27325-3A61-48BD-A67A-20BCEC4B8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D77C87-68F9-4FD0-9975-B1F898520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0795-CF19-481E-8EEC-D938A10189B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000BD1-F2B8-422A-A810-A3D8F6496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99D5C7-63D7-49FF-A965-3DDC17E73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DFA6-A977-4D10-8B73-83A583A66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04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5993A-6394-4C4D-A188-1860D2B64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AFC8BC-DE36-4342-BF3C-D48E535C5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205A9A-56EE-4723-8F2B-C3FBCD7E4C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CE166F-1266-4595-900B-68C43C35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0795-CF19-481E-8EEC-D938A10189B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FA766C-C4BA-4515-8335-DC2FD325E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FDB1F2-3EA1-46E4-95B6-FB2298E47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DFA6-A977-4D10-8B73-83A583A66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27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7E7BE-737A-4D30-88D8-B6F2F7BAF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6CBE74-511B-4B30-9C53-E9DC81119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BF4DC83-0DCD-4016-BF53-3BAE99053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874295-92CF-41B1-83B2-2A88DF5C5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188311-9770-447C-B625-A76922BC6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F5E7D4-92E7-452E-B02A-015C015CC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0795-CF19-481E-8EEC-D938A10189B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474D3DB-6E4B-4440-B3BA-05FB674E5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05FE6E-732A-4115-875E-BA4F7946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DFA6-A977-4D10-8B73-83A583A66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619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BF263-AEFC-426A-BE7C-74255C55B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E235E9-0432-49D8-91A2-BD44DA379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0795-CF19-481E-8EEC-D938A10189B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3FD6B8-7191-4E0F-B669-7AD07E727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FA953C-0FCE-48AC-B493-54C37E24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DFA6-A977-4D10-8B73-83A583A66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48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8199B6-9E18-4313-9BDC-F83A31A91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0795-CF19-481E-8EEC-D938A10189B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65BB3E-535B-4129-B7E6-8812F2DD5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5D9E7E-2506-453A-9A10-AF37E1BC9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DFA6-A977-4D10-8B73-83A583A66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392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8BB41-E5BF-42CB-92BF-1004AAFDC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3FB187-2A5E-48D8-9ABE-C64919100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C067F3-3796-4212-83B3-C75FAEC44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DA047E-F7A0-4B8B-BD3A-9941CCC71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0795-CF19-481E-8EEC-D938A10189B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62705D-C285-408E-9BB6-F22BA0751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40D071-EC2A-4579-B6B4-7F42F778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DFA6-A977-4D10-8B73-83A583A66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2695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790EB4-D6AB-435A-83D1-7440636A9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3DF28F-8694-4670-8B1C-5044935CA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FB37D-E4B7-4799-B331-B1D02D04D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407CCB-7DC6-404E-B95C-CD57F7D6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0795-CF19-481E-8EEC-D938A10189B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A45B2F-46C5-465D-9CCD-2E08F8A39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1209E0-6B69-4FF2-B1B9-A9F2CA46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DFA6-A977-4D10-8B73-83A583A66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669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8F9077-44AA-4E87-AC02-410FA2D35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572B2E-FF56-40E8-B2CC-8A689B048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CD647C-67FB-406E-A97D-DB22EA235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0795-CF19-481E-8EEC-D938A10189B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A83908-3220-44A6-9551-ECEB4DA7A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E2C05C-B10B-435D-BC13-355A8206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DFA6-A977-4D10-8B73-83A583A66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815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34A067-105C-4CF4-8621-8335B19C1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633F14-47B5-48B0-8894-B8E52384F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92E310-BFE5-4744-82B3-FDCADEF50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70795-CF19-481E-8EEC-D938A10189B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0D1AD3-6C69-4782-87F6-C3B0B83E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04D33F-E1BE-4CFB-B660-13D414362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DFA6-A977-4D10-8B73-83A583A66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117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895E6A1-10B2-446F-9F38-CD0F0444C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061C46-137C-4FCC-9025-9DD26DE45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F5A5AA-2FEA-4D70-92FF-0A1856AC6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F70795-CF19-481E-8EEC-D938A10189BD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2D335-C9ED-4C20-BF81-87FD520AF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5CBA98-A44D-41B8-80A5-3A10DAE8C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7DFA6-A977-4D10-8B73-83A583A666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53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3642F8-8C26-4298-92C2-261D7EA57BEA}"/>
              </a:ext>
            </a:extLst>
          </p:cNvPr>
          <p:cNvSpPr txBox="1"/>
          <p:nvPr/>
        </p:nvSpPr>
        <p:spPr>
          <a:xfrm>
            <a:off x="508000" y="355600"/>
            <a:ext cx="762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b="1">
                <a:solidFill>
                  <a:srgbClr val="1C1C1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1. </a:t>
            </a:r>
            <a:r>
              <a:rPr lang="ko-KR" altLang="en-US" sz="2800" b="1">
                <a:solidFill>
                  <a:srgbClr val="1C1C1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캠페인 개요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3E82EB-C45F-431B-947E-C27C6398CA73}"/>
              </a:ext>
            </a:extLst>
          </p:cNvPr>
          <p:cNvSpPr txBox="1"/>
          <p:nvPr/>
        </p:nvSpPr>
        <p:spPr>
          <a:xfrm>
            <a:off x="7874000" y="482600"/>
            <a:ext cx="3810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lang="ko-KR" altLang="en-US" sz="1300" b="1">
                <a:solidFill>
                  <a:srgbClr val="66666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팀  프롬프트 파티츠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309053-09E7-44DA-9206-3D5FEB905163}"/>
              </a:ext>
            </a:extLst>
          </p:cNvPr>
          <p:cNvSpPr txBox="1"/>
          <p:nvPr/>
        </p:nvSpPr>
        <p:spPr>
          <a:xfrm>
            <a:off x="508000" y="990599"/>
            <a:ext cx="11176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캠페인은 미술관 관람객을 늘리는 것이 아니라</a:t>
            </a:r>
            <a:r>
              <a:rPr lang="en-US" altLang="ko-KR" sz="14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4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미술관을 문으로 삼아 타 지역민을 대구로 데려오고 도시에 머물게 하는 것을 목표로 한다</a:t>
            </a:r>
            <a:r>
              <a:rPr lang="en-US" altLang="ko-KR" sz="14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333333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4B11C84-CD89-433F-8B77-24774C6A4628}"/>
              </a:ext>
            </a:extLst>
          </p:cNvPr>
          <p:cNvSpPr/>
          <p:nvPr/>
        </p:nvSpPr>
        <p:spPr>
          <a:xfrm>
            <a:off x="508000" y="1676400"/>
            <a:ext cx="5334000" cy="1244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C7B950-CCD9-4B09-A081-B4FF138C7A9C}"/>
              </a:ext>
            </a:extLst>
          </p:cNvPr>
          <p:cNvSpPr/>
          <p:nvPr/>
        </p:nvSpPr>
        <p:spPr>
          <a:xfrm>
            <a:off x="711200" y="1905000"/>
            <a:ext cx="101600" cy="101600"/>
          </a:xfrm>
          <a:prstGeom prst="rect">
            <a:avLst/>
          </a:prstGeom>
          <a:solidFill>
            <a:srgbClr val="B83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59DA77-DAF8-40E5-8F5F-5C2ED68AE823}"/>
              </a:ext>
            </a:extLst>
          </p:cNvPr>
          <p:cNvSpPr txBox="1"/>
          <p:nvPr/>
        </p:nvSpPr>
        <p:spPr>
          <a:xfrm>
            <a:off x="889000" y="1854199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>
                <a:solidFill>
                  <a:srgbClr val="1C1C1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타깃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B13F8-B8CF-4703-A5DB-394B7DEFEBF9}"/>
              </a:ext>
            </a:extLst>
          </p:cNvPr>
          <p:cNvSpPr txBox="1"/>
          <p:nvPr/>
        </p:nvSpPr>
        <p:spPr>
          <a:xfrm>
            <a:off x="711200" y="2159000"/>
            <a:ext cx="49276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평소 대구를 여행지로 고려해본 적 없지만</a:t>
            </a:r>
            <a:r>
              <a:rPr lang="en-US" altLang="ko-KR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최근 </a:t>
            </a:r>
            <a:r>
              <a:rPr lang="en-US" altLang="ko-KR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년간 전시</a:t>
            </a:r>
            <a:r>
              <a:rPr lang="en-US" altLang="ko-KR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공연 등 문화 경험을 이유로 다른 지역을 여행한 적 있는 잠재 방문객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B4963F4-4D6B-4910-915D-DFAE44A571A4}"/>
              </a:ext>
            </a:extLst>
          </p:cNvPr>
          <p:cNvSpPr/>
          <p:nvPr/>
        </p:nvSpPr>
        <p:spPr>
          <a:xfrm>
            <a:off x="508000" y="3048000"/>
            <a:ext cx="5334000" cy="1244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B97856-83B1-4EFB-AA1B-43C806377DB2}"/>
              </a:ext>
            </a:extLst>
          </p:cNvPr>
          <p:cNvSpPr/>
          <p:nvPr/>
        </p:nvSpPr>
        <p:spPr>
          <a:xfrm>
            <a:off x="711200" y="3276600"/>
            <a:ext cx="101600" cy="101600"/>
          </a:xfrm>
          <a:prstGeom prst="rect">
            <a:avLst/>
          </a:prstGeom>
          <a:solidFill>
            <a:srgbClr val="B83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7BDF67-52DC-4CAF-8CE2-26A3281F99AE}"/>
              </a:ext>
            </a:extLst>
          </p:cNvPr>
          <p:cNvSpPr txBox="1"/>
          <p:nvPr/>
        </p:nvSpPr>
        <p:spPr>
          <a:xfrm>
            <a:off x="889000" y="3225799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>
                <a:solidFill>
                  <a:srgbClr val="1C1C1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목적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7AD7EF-14FF-4FDB-9AB6-40F5E084EF48}"/>
              </a:ext>
            </a:extLst>
          </p:cNvPr>
          <p:cNvSpPr txBox="1"/>
          <p:nvPr/>
        </p:nvSpPr>
        <p:spPr>
          <a:xfrm>
            <a:off x="711200" y="3530599"/>
            <a:ext cx="49276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역대 최대 규모의 겸재 정선 특별전을 매개로</a:t>
            </a:r>
            <a:b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타 지역민의 </a:t>
            </a:r>
            <a:r>
              <a:rPr lang="en-US" altLang="ko-KR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문화 목적형 대구 방문</a:t>
            </a:r>
            <a:r>
              <a:rPr lang="en-US" altLang="ko-KR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을 유도하고</a:t>
            </a:r>
            <a:r>
              <a:rPr lang="en-US" altLang="ko-KR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</a:t>
            </a:r>
            <a:br>
              <a:rPr lang="en-US" altLang="ko-KR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나아가 지역 체류와 소비로 확장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3AF5857-D9DD-40E9-958B-48D2D9E1811A}"/>
              </a:ext>
            </a:extLst>
          </p:cNvPr>
          <p:cNvSpPr/>
          <p:nvPr/>
        </p:nvSpPr>
        <p:spPr>
          <a:xfrm>
            <a:off x="508000" y="4419600"/>
            <a:ext cx="5334000" cy="12446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341946-B939-42AF-921E-89E492D7DDB1}"/>
              </a:ext>
            </a:extLst>
          </p:cNvPr>
          <p:cNvSpPr/>
          <p:nvPr/>
        </p:nvSpPr>
        <p:spPr>
          <a:xfrm>
            <a:off x="711200" y="4648200"/>
            <a:ext cx="101600" cy="101600"/>
          </a:xfrm>
          <a:prstGeom prst="rect">
            <a:avLst/>
          </a:prstGeom>
          <a:solidFill>
            <a:srgbClr val="B83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5C16B0-9A16-417B-B6E0-EFE0C9B18622}"/>
              </a:ext>
            </a:extLst>
          </p:cNvPr>
          <p:cNvSpPr txBox="1"/>
          <p:nvPr/>
        </p:nvSpPr>
        <p:spPr>
          <a:xfrm>
            <a:off x="889000" y="4597399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>
                <a:solidFill>
                  <a:srgbClr val="1C1C1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검증 범위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BC0105-73F8-42AF-AE23-8DE6AFFA227A}"/>
              </a:ext>
            </a:extLst>
          </p:cNvPr>
          <p:cNvSpPr txBox="1"/>
          <p:nvPr/>
        </p:nvSpPr>
        <p:spPr>
          <a:xfrm>
            <a:off x="711200" y="4902200"/>
            <a:ext cx="49276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이번 프로젝트에서는 방문 의향과 체류 의향의 변화까지 측정한다</a:t>
            </a:r>
            <a:r>
              <a:rPr lang="en-US" altLang="ko-KR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소비는 측정하지 않는다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0B89830-29A5-4353-B05F-F17005CA2CCC}"/>
              </a:ext>
            </a:extLst>
          </p:cNvPr>
          <p:cNvSpPr/>
          <p:nvPr/>
        </p:nvSpPr>
        <p:spPr>
          <a:xfrm>
            <a:off x="6096000" y="1676400"/>
            <a:ext cx="5588000" cy="185420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918D328-9EC5-4CBA-9BC1-6F8AE4DD35E1}"/>
              </a:ext>
            </a:extLst>
          </p:cNvPr>
          <p:cNvSpPr/>
          <p:nvPr/>
        </p:nvSpPr>
        <p:spPr>
          <a:xfrm>
            <a:off x="6299200" y="1905000"/>
            <a:ext cx="101600" cy="101600"/>
          </a:xfrm>
          <a:prstGeom prst="rect">
            <a:avLst/>
          </a:prstGeom>
          <a:solidFill>
            <a:srgbClr val="B83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DD456B-6BD8-4ACC-9F92-07FE507888FC}"/>
              </a:ext>
            </a:extLst>
          </p:cNvPr>
          <p:cNvSpPr txBox="1"/>
          <p:nvPr/>
        </p:nvSpPr>
        <p:spPr>
          <a:xfrm>
            <a:off x="6477000" y="1854199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인사이트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F81819-E052-4230-A149-1127F9BBDE6E}"/>
              </a:ext>
            </a:extLst>
          </p:cNvPr>
          <p:cNvSpPr txBox="1"/>
          <p:nvPr/>
        </p:nvSpPr>
        <p:spPr>
          <a:xfrm>
            <a:off x="6299200" y="2184399"/>
            <a:ext cx="5181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대구가 싫은 게 아니라 갈 이유가 없었을 뿐이다</a:t>
            </a:r>
            <a: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br>
              <a:rPr lang="en-US" altLang="ko-KR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원본을 직접 마주하는 경험이</a:t>
            </a:r>
            <a:br>
              <a:rPr lang="ko-KR" altLang="en-US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 첫 번째 이유가 된다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F1387E3-98FC-44E6-86A6-2405154BD6F2}"/>
              </a:ext>
            </a:extLst>
          </p:cNvPr>
          <p:cNvSpPr/>
          <p:nvPr/>
        </p:nvSpPr>
        <p:spPr>
          <a:xfrm>
            <a:off x="6096000" y="3683000"/>
            <a:ext cx="2616200" cy="19812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B3BC491-2639-4C49-B567-EFECFDD52CC7}"/>
              </a:ext>
            </a:extLst>
          </p:cNvPr>
          <p:cNvSpPr/>
          <p:nvPr/>
        </p:nvSpPr>
        <p:spPr>
          <a:xfrm>
            <a:off x="6299200" y="3911600"/>
            <a:ext cx="101600" cy="101600"/>
          </a:xfrm>
          <a:prstGeom prst="rect">
            <a:avLst/>
          </a:prstGeom>
          <a:solidFill>
            <a:srgbClr val="B83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573A5-933A-44C8-A68B-4AD5F3116C78}"/>
              </a:ext>
            </a:extLst>
          </p:cNvPr>
          <p:cNvSpPr txBox="1"/>
          <p:nvPr/>
        </p:nvSpPr>
        <p:spPr>
          <a:xfrm>
            <a:off x="6477000" y="3860799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>
                <a:solidFill>
                  <a:srgbClr val="1C1C1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진입점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C0C5D1-9C8E-4BC3-AE3E-11E83CF4250B}"/>
              </a:ext>
            </a:extLst>
          </p:cNvPr>
          <p:cNvSpPr txBox="1"/>
          <p:nvPr/>
        </p:nvSpPr>
        <p:spPr>
          <a:xfrm>
            <a:off x="6299200" y="4089400"/>
            <a:ext cx="22098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3000" b="1">
                <a:solidFill>
                  <a:srgbClr val="B83A2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49%</a:t>
            </a:r>
            <a:endParaRPr lang="ko-KR" altLang="en-US" sz="3000" b="1">
              <a:solidFill>
                <a:srgbClr val="B83A2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5C115E-5782-430D-93D4-2A08C725EEE0}"/>
              </a:ext>
            </a:extLst>
          </p:cNvPr>
          <p:cNvSpPr txBox="1"/>
          <p:nvPr/>
        </p:nvSpPr>
        <p:spPr>
          <a:xfrm>
            <a:off x="6299200" y="4597400"/>
            <a:ext cx="2260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대구간송미술관</a:t>
            </a:r>
            <a:r>
              <a:rPr lang="en-US" altLang="ko-KR" sz="12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br>
              <a:rPr lang="en-US" altLang="ko-KR" sz="12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2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관람객의 </a:t>
            </a:r>
            <a:r>
              <a:rPr lang="en-US" altLang="ko-KR" sz="12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49%</a:t>
            </a:r>
            <a:r>
              <a:rPr lang="ko-KR" altLang="en-US" sz="12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대구 밖에서</a:t>
            </a:r>
            <a:br>
              <a:rPr lang="ko-KR" altLang="en-US" sz="12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2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오는</a:t>
            </a:r>
            <a:r>
              <a:rPr lang="en-US" altLang="ko-KR" sz="12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대구에서 드물게</a:t>
            </a:r>
            <a:br>
              <a:rPr lang="ko-KR" altLang="en-US" sz="12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2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외지인을 끌어오는 곳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6983EC7-3073-475F-A1B2-182B55D77FC9}"/>
              </a:ext>
            </a:extLst>
          </p:cNvPr>
          <p:cNvSpPr/>
          <p:nvPr/>
        </p:nvSpPr>
        <p:spPr>
          <a:xfrm>
            <a:off x="8864600" y="3683000"/>
            <a:ext cx="2819400" cy="19812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3ED4D26-D8E6-4777-AB83-546B7323252D}"/>
              </a:ext>
            </a:extLst>
          </p:cNvPr>
          <p:cNvSpPr/>
          <p:nvPr/>
        </p:nvSpPr>
        <p:spPr>
          <a:xfrm>
            <a:off x="9067800" y="3911600"/>
            <a:ext cx="101600" cy="101600"/>
          </a:xfrm>
          <a:prstGeom prst="rect">
            <a:avLst/>
          </a:prstGeom>
          <a:solidFill>
            <a:srgbClr val="B83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8A3342-06CB-4B57-B449-A4299C3B855C}"/>
              </a:ext>
            </a:extLst>
          </p:cNvPr>
          <p:cNvSpPr txBox="1"/>
          <p:nvPr/>
        </p:nvSpPr>
        <p:spPr>
          <a:xfrm>
            <a:off x="9245600" y="3860799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>
                <a:solidFill>
                  <a:srgbClr val="1C1C1C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그림과 도시를 잇는 다리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281705-5B18-45E3-A4D9-24F570F73A9F}"/>
              </a:ext>
            </a:extLst>
          </p:cNvPr>
          <p:cNvSpPr txBox="1"/>
          <p:nvPr/>
        </p:nvSpPr>
        <p:spPr>
          <a:xfrm>
            <a:off x="9067800" y="4190999"/>
            <a:ext cx="24384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겸재 정선이 대구를 멀리서</a:t>
            </a:r>
            <a:b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바라보고 그린 </a:t>
            </a:r>
            <a:r>
              <a:rPr lang="en-US" altLang="ko-KR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달성원조도</a:t>
            </a:r>
            <a:r>
              <a:rPr lang="en-US" altLang="ko-KR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'.</a:t>
            </a:r>
            <a:br>
              <a:rPr lang="en-US" altLang="ko-KR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그림 속 대구에서 지금의</a:t>
            </a:r>
            <a:b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300">
                <a:solidFill>
                  <a:srgbClr val="333333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대구로 시선을 옮긴다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97CC694-9489-4991-87A7-EB7BAA369492}"/>
              </a:ext>
            </a:extLst>
          </p:cNvPr>
          <p:cNvSpPr/>
          <p:nvPr/>
        </p:nvSpPr>
        <p:spPr>
          <a:xfrm>
            <a:off x="508000" y="5816600"/>
            <a:ext cx="11176000" cy="711200"/>
          </a:xfrm>
          <a:prstGeom prst="roundRect">
            <a:avLst>
              <a:gd name="adj" fmla="val 6000"/>
            </a:avLst>
          </a:prstGeom>
          <a:solidFill>
            <a:srgbClr val="1C1C1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11DE305-93E3-4C10-BC21-205C6910203D}"/>
              </a:ext>
            </a:extLst>
          </p:cNvPr>
          <p:cNvSpPr/>
          <p:nvPr/>
        </p:nvSpPr>
        <p:spPr>
          <a:xfrm>
            <a:off x="711200" y="6108700"/>
            <a:ext cx="101600" cy="101600"/>
          </a:xfrm>
          <a:prstGeom prst="rect">
            <a:avLst/>
          </a:prstGeom>
          <a:solidFill>
            <a:srgbClr val="B83A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8F42A1-ADC7-40C9-868D-9F296DBA9F68}"/>
              </a:ext>
            </a:extLst>
          </p:cNvPr>
          <p:cNvSpPr txBox="1"/>
          <p:nvPr/>
        </p:nvSpPr>
        <p:spPr>
          <a:xfrm>
            <a:off x="889000" y="6057899"/>
            <a:ext cx="381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2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행동 유도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2474626-CF1A-4E11-B481-385F87D4D3FA}"/>
              </a:ext>
            </a:extLst>
          </p:cNvPr>
          <p:cNvSpPr txBox="1"/>
          <p:nvPr/>
        </p:nvSpPr>
        <p:spPr>
          <a:xfrm>
            <a:off x="1981200" y="5816599"/>
            <a:ext cx="9499600" cy="71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12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월 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27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일 전 대구 방문</a:t>
            </a:r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 </a:t>
            </a:r>
            <a:r>
              <a:rPr lang="ko-KR" altLang="en-US" sz="16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특별전 예매 시 미인도 상설 전시도 함께 관람 가능</a:t>
            </a:r>
          </a:p>
        </p:txBody>
      </p:sp>
    </p:spTree>
    <p:extLst>
      <p:ext uri="{BB962C8B-B14F-4D97-AF65-F5344CB8AC3E}">
        <p14:creationId xmlns:p14="http://schemas.microsoft.com/office/powerpoint/2010/main" val="4167698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사용자 지정</PresentationFormat>
  <Paragraphs>18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Malgun Gothic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Green</dc:creator>
  <cp:lastModifiedBy>Green</cp:lastModifiedBy>
  <cp:revision>1</cp:revision>
  <dcterms:created xsi:type="dcterms:W3CDTF">2026-10-28T00:20:39Z</dcterms:created>
  <dcterms:modified xsi:type="dcterms:W3CDTF">2026-10-28T00:20:39Z</dcterms:modified>
</cp:coreProperties>
</file>